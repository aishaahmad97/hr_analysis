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60" r:id="rId5"/>
    <p:sldId id="261" r:id="rId6"/>
    <p:sldId id="262" r:id="rId7"/>
    <p:sldId id="263" r:id="rId8"/>
    <p:sldId id="264" r:id="rId9"/>
    <p:sldId id="259" r:id="rId10"/>
    <p:sldId id="265" r:id="rId11"/>
    <p:sldId id="267" r:id="rId12"/>
    <p:sldId id="266"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isha Ahmad" initials="AA" lastIdx="1" clrIdx="0">
    <p:extLst>
      <p:ext uri="{19B8F6BF-5375-455C-9EA6-DF929625EA0E}">
        <p15:presenceInfo xmlns:p15="http://schemas.microsoft.com/office/powerpoint/2012/main" userId="c8c0745d3cf24a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0" autoAdjust="0"/>
    <p:restoredTop sz="94660"/>
  </p:normalViewPr>
  <p:slideViewPr>
    <p:cSldViewPr snapToGrid="0">
      <p:cViewPr varScale="1">
        <p:scale>
          <a:sx n="80" d="100"/>
          <a:sy n="80" d="100"/>
        </p:scale>
        <p:origin x="27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B03763-8CD6-4B03-AA6A-6ABE20E5FD52}" type="datetimeFigureOut">
              <a:rPr lang="en-US" smtClean="0"/>
              <a:t>01-Dec-21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2EA331-8D79-4915-98A1-D1D18293809D}" type="slidenum">
              <a:rPr lang="en-US" smtClean="0"/>
              <a:t>‹#›</a:t>
            </a:fld>
            <a:endParaRPr lang="en-US"/>
          </a:p>
        </p:txBody>
      </p:sp>
    </p:spTree>
    <p:extLst>
      <p:ext uri="{BB962C8B-B14F-4D97-AF65-F5344CB8AC3E}">
        <p14:creationId xmlns:p14="http://schemas.microsoft.com/office/powerpoint/2010/main" val="4018716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2EA331-8D79-4915-98A1-D1D18293809D}" type="slidenum">
              <a:rPr lang="en-US" smtClean="0"/>
              <a:t>13</a:t>
            </a:fld>
            <a:endParaRPr lang="en-US"/>
          </a:p>
        </p:txBody>
      </p:sp>
    </p:spTree>
    <p:extLst>
      <p:ext uri="{BB962C8B-B14F-4D97-AF65-F5344CB8AC3E}">
        <p14:creationId xmlns:p14="http://schemas.microsoft.com/office/powerpoint/2010/main" val="2493116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20638-75DA-4AC3-8479-93E46A17C4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5B0233D-AE09-4391-B38E-D00A3162D0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242D10-45EE-4F4C-A81B-0093CBB4DA4D}"/>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54EDF30F-76ED-496B-B23A-C01382626F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C1D097-EF76-43F8-8142-0DFA0CEA05EC}"/>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233996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95A50-392F-4AED-9B9D-FB681577950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5D1166-5287-426C-BF70-DB51D2F10F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26B25B-CFCE-487B-B1B5-3EA7D6F45203}"/>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81E4715C-E602-4116-B683-0023F0B5E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D8A2BA-09DB-4D1D-801E-484EA390E4B3}"/>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1060056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934A1-B7AF-4709-A204-FF2DF2589D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07D37E-A02D-420D-8BCA-EF3D963489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9820D1-BDE7-4EA0-8578-30097E7AA0CE}"/>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2E44297B-B874-4CA7-A432-329412C892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D18F95-083A-4638-9967-49CA79272356}"/>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2719032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8D12D-D9BD-4C1C-B56F-E6BDEC7250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BF8960-F9D9-4C5A-859C-F99C9A4F4D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2822FC-AEFA-4139-9FE9-FB446BF663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9FBCAC-8155-43F4-8249-5938E45805A4}"/>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6" name="Footer Placeholder 5">
            <a:extLst>
              <a:ext uri="{FF2B5EF4-FFF2-40B4-BE49-F238E27FC236}">
                <a16:creationId xmlns:a16="http://schemas.microsoft.com/office/drawing/2014/main" id="{2A01852C-7B07-41B0-A8E7-F8D439B763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8FF50-84D8-4A92-B2DF-39A21862E826}"/>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2748959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8446B-0462-455D-BC60-7A53DB3A3C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6010E0-F62B-4F16-9339-30E611EE04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EE76E4-E57C-4515-98CC-EAF49923C3F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105D78-63A0-4D89-A46F-53693FFACD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9207DD-AD89-4C09-8DDC-FA98E224207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81C1C-5711-462D-91AE-EAFF14FE4551}"/>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8" name="Footer Placeholder 7">
            <a:extLst>
              <a:ext uri="{FF2B5EF4-FFF2-40B4-BE49-F238E27FC236}">
                <a16:creationId xmlns:a16="http://schemas.microsoft.com/office/drawing/2014/main" id="{1DD2536E-94F2-4054-B11B-E9B6BE0C15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F6C106-13D1-4339-8DA3-F35B497C24FA}"/>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442065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96816-BB54-4594-A46A-BDE05618EB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7AC07E-8CA0-4D41-B202-D9E9750AAF34}"/>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4" name="Footer Placeholder 3">
            <a:extLst>
              <a:ext uri="{FF2B5EF4-FFF2-40B4-BE49-F238E27FC236}">
                <a16:creationId xmlns:a16="http://schemas.microsoft.com/office/drawing/2014/main" id="{1CDDE619-0A54-4292-AF9E-142B7C7F56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EFE296F-0088-4365-8440-184F35AC210E}"/>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58073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9567BB-93D5-41A6-9E1D-50A2A405A95A}"/>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3" name="Footer Placeholder 2">
            <a:extLst>
              <a:ext uri="{FF2B5EF4-FFF2-40B4-BE49-F238E27FC236}">
                <a16:creationId xmlns:a16="http://schemas.microsoft.com/office/drawing/2014/main" id="{70BD5198-39E8-4D46-B9B2-D99CA5E955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791818F-DF6E-4371-BB1E-E4449FACC359}"/>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4157435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E7193-CF51-41AE-9507-E7B5BBDB61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E0D204-80B8-434C-B2AC-6A281516C49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4AD76B-9E7D-4B0A-B5C8-000A981E99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9231CD-E646-4E04-A8CD-7576D2429A13}"/>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6" name="Footer Placeholder 5">
            <a:extLst>
              <a:ext uri="{FF2B5EF4-FFF2-40B4-BE49-F238E27FC236}">
                <a16:creationId xmlns:a16="http://schemas.microsoft.com/office/drawing/2014/main" id="{A14A4E83-27DF-4A68-82B0-D182AC9A85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07BE4C-21F6-4CF6-9192-E7FC048E3612}"/>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1875493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329AF-FAC4-43D9-8807-B7031476AB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E26532-B784-44EF-8FE2-53DAA81627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B27B9F-60E8-4DB3-805A-71C8EC518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D47A23-6C2C-4845-9986-C7A3C1B1CD4C}"/>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6" name="Footer Placeholder 5">
            <a:extLst>
              <a:ext uri="{FF2B5EF4-FFF2-40B4-BE49-F238E27FC236}">
                <a16:creationId xmlns:a16="http://schemas.microsoft.com/office/drawing/2014/main" id="{21D49DA9-D4AD-4FC8-8B56-DDD14AD49C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9E5755-0EEB-4912-946F-D26368271513}"/>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1228430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2EA18-344E-4DA9-9774-2A2321E0D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EF53C5-4130-479E-A81B-354773DC42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75FBD3-DF40-470B-9169-174649C39DFF}"/>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CDDB479E-CAB3-440A-863D-7EB4C8999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37D5A-BA5B-439A-9A5F-69E71557D841}"/>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2886068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BC0BF6-A256-4478-83DA-86D101617E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575004-DBDF-4D6E-BC52-3EBD74CBDF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26BDA1-EC8E-4BE8-8359-711EC5C1D65A}"/>
              </a:ext>
            </a:extLst>
          </p:cNvPr>
          <p:cNvSpPr>
            <a:spLocks noGrp="1"/>
          </p:cNvSpPr>
          <p:nvPr>
            <p:ph type="dt" sz="half" idx="10"/>
          </p:nvPr>
        </p:nvSpPr>
        <p:spPr/>
        <p:txBody>
          <a:body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BB0EDDFB-F3E0-4BD8-853B-87D711A9C0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64D3E-F141-45AF-BC0F-3C9E547C1DC1}"/>
              </a:ext>
            </a:extLst>
          </p:cNvPr>
          <p:cNvSpPr>
            <a:spLocks noGrp="1"/>
          </p:cNvSpPr>
          <p:nvPr>
            <p:ph type="sldNum" sz="quarter" idx="12"/>
          </p:nvPr>
        </p:nvSpPr>
        <p:spPr/>
        <p:txBody>
          <a:bodyPr/>
          <a:lstStyle/>
          <a:p>
            <a:fld id="{88201BC9-E8EE-41E7-AC49-6AAEEBBE2040}" type="slidenum">
              <a:rPr lang="en-US" smtClean="0"/>
              <a:t>‹#›</a:t>
            </a:fld>
            <a:endParaRPr lang="en-US"/>
          </a:p>
        </p:txBody>
      </p:sp>
    </p:spTree>
    <p:extLst>
      <p:ext uri="{BB962C8B-B14F-4D97-AF65-F5344CB8AC3E}">
        <p14:creationId xmlns:p14="http://schemas.microsoft.com/office/powerpoint/2010/main" val="2681076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902F9-A948-4D59-8CD5-CEBDE8BF1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7B0173-4B48-4180-959F-ACB3E9C405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338F4F-AD7B-43EC-8CD5-4B2BD0894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0C67AD-5F07-4B6D-BED4-A770D4731708}" type="datetimeFigureOut">
              <a:rPr lang="en-US" smtClean="0"/>
              <a:t>01-Dec-21</a:t>
            </a:fld>
            <a:endParaRPr lang="en-US"/>
          </a:p>
        </p:txBody>
      </p:sp>
      <p:sp>
        <p:nvSpPr>
          <p:cNvPr id="5" name="Footer Placeholder 4">
            <a:extLst>
              <a:ext uri="{FF2B5EF4-FFF2-40B4-BE49-F238E27FC236}">
                <a16:creationId xmlns:a16="http://schemas.microsoft.com/office/drawing/2014/main" id="{797ED5B4-FCFE-4D39-BAD6-310DB88164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FFFD44-7178-4A60-960E-C343A76E03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201BC9-E8EE-41E7-AC49-6AAEEBBE2040}" type="slidenum">
              <a:rPr lang="en-US" smtClean="0"/>
              <a:t>‹#›</a:t>
            </a:fld>
            <a:endParaRPr lang="en-US"/>
          </a:p>
        </p:txBody>
      </p:sp>
    </p:spTree>
    <p:extLst>
      <p:ext uri="{BB962C8B-B14F-4D97-AF65-F5344CB8AC3E}">
        <p14:creationId xmlns:p14="http://schemas.microsoft.com/office/powerpoint/2010/main" val="1682959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270D50E1-FF8C-4A36-98A5-CDF29A816708}"/>
              </a:ext>
            </a:extLst>
          </p:cNvPr>
          <p:cNvPicPr>
            <a:picLocks noChangeAspect="1"/>
          </p:cNvPicPr>
          <p:nvPr/>
        </p:nvPicPr>
        <p:blipFill rotWithShape="1">
          <a:blip r:embed="rId2"/>
          <a:srcRect r="15627" b="-1"/>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86839C1-944F-4EA3-9A7E-C9B0DAB81C80}"/>
              </a:ext>
            </a:extLst>
          </p:cNvPr>
          <p:cNvSpPr>
            <a:spLocks noGrp="1"/>
          </p:cNvSpPr>
          <p:nvPr>
            <p:ph type="ctrTitle"/>
          </p:nvPr>
        </p:nvSpPr>
        <p:spPr>
          <a:xfrm>
            <a:off x="477981" y="1122363"/>
            <a:ext cx="4023360" cy="3204134"/>
          </a:xfrm>
        </p:spPr>
        <p:txBody>
          <a:bodyPr anchor="b">
            <a:normAutofit/>
          </a:bodyPr>
          <a:lstStyle/>
          <a:p>
            <a:pPr algn="l"/>
            <a:r>
              <a:rPr lang="en-US" sz="4800"/>
              <a:t>HR Data Analysis and Prediction</a:t>
            </a: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770853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D77584-3ED3-47FF-9968-2DB4D6F6B7C6}"/>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Introduction:</a:t>
            </a:r>
          </a:p>
        </p:txBody>
      </p:sp>
      <p:sp>
        <p:nvSpPr>
          <p:cNvPr id="3" name="Content Placeholder 2">
            <a:extLst>
              <a:ext uri="{FF2B5EF4-FFF2-40B4-BE49-F238E27FC236}">
                <a16:creationId xmlns:a16="http://schemas.microsoft.com/office/drawing/2014/main" id="{CEC34B3A-1BDC-42A4-B42E-AD91845B2690}"/>
              </a:ext>
            </a:extLst>
          </p:cNvPr>
          <p:cNvSpPr>
            <a:spLocks noGrp="1"/>
          </p:cNvSpPr>
          <p:nvPr>
            <p:ph idx="1"/>
          </p:nvPr>
        </p:nvSpPr>
        <p:spPr>
          <a:xfrm>
            <a:off x="6503158" y="649480"/>
            <a:ext cx="4862447" cy="5546047"/>
          </a:xfrm>
        </p:spPr>
        <p:txBody>
          <a:bodyPr anchor="ctr">
            <a:normAutofit/>
          </a:bodyPr>
          <a:lstStyle/>
          <a:p>
            <a:pPr marL="0" indent="0" fontAlgn="base">
              <a:buNone/>
            </a:pPr>
            <a:r>
              <a:rPr lang="en-US" sz="2000" b="0" i="0">
                <a:effectLst/>
                <a:latin typeface="Inter"/>
              </a:rPr>
              <a:t>HR analytics is revolutionizing the way human resources departments operate, leading to higher efficiency and better results overall. Human resources has been using analytics for years. However, the collection, processing and analysis of data has been largely manual, and given the nature of human resources dynamics and HR KPIs, the approach has been constraining HR. Therefore, it is surprising that HR departments woke up to the utility of machine learning so late in the game. Here is an opportunity to try predictive analytics in identifying the employees most likely to get promoted.</a:t>
            </a:r>
          </a:p>
        </p:txBody>
      </p:sp>
    </p:spTree>
    <p:extLst>
      <p:ext uri="{BB962C8B-B14F-4D97-AF65-F5344CB8AC3E}">
        <p14:creationId xmlns:p14="http://schemas.microsoft.com/office/powerpoint/2010/main" val="2814401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020B8C-A379-4D0A-8FB7-47B6B12DD245}"/>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Business Problem:</a:t>
            </a:r>
          </a:p>
        </p:txBody>
      </p:sp>
      <p:sp>
        <p:nvSpPr>
          <p:cNvPr id="3" name="Content Placeholder 2">
            <a:extLst>
              <a:ext uri="{FF2B5EF4-FFF2-40B4-BE49-F238E27FC236}">
                <a16:creationId xmlns:a16="http://schemas.microsoft.com/office/drawing/2014/main" id="{D6F3A1C6-6B07-4270-B9DA-5562C34C32BC}"/>
              </a:ext>
            </a:extLst>
          </p:cNvPr>
          <p:cNvSpPr>
            <a:spLocks noGrp="1"/>
          </p:cNvSpPr>
          <p:nvPr>
            <p:ph idx="1"/>
          </p:nvPr>
        </p:nvSpPr>
        <p:spPr>
          <a:xfrm>
            <a:off x="1371599" y="2318197"/>
            <a:ext cx="9724031" cy="3683358"/>
          </a:xfrm>
        </p:spPr>
        <p:txBody>
          <a:bodyPr anchor="ctr">
            <a:normAutofit/>
          </a:bodyPr>
          <a:lstStyle/>
          <a:p>
            <a:pPr marL="0" indent="0" fontAlgn="base">
              <a:buNone/>
            </a:pPr>
            <a:r>
              <a:rPr lang="en-US" sz="1700" b="0" i="0">
                <a:effectLst/>
                <a:latin typeface="Inter"/>
              </a:rPr>
              <a:t>One of the problem a large MNC is facing is around identifying the right people for promotion (only for manager position and below) and prepare them in time. Currently the process, they are following is:</a:t>
            </a:r>
          </a:p>
          <a:p>
            <a:pPr marL="514350" indent="-514350" fontAlgn="base">
              <a:buFont typeface="+mj-lt"/>
              <a:buAutoNum type="arabicPeriod"/>
            </a:pPr>
            <a:r>
              <a:rPr lang="en-US" sz="1700">
                <a:latin typeface="Inter"/>
              </a:rPr>
              <a:t>Identifying </a:t>
            </a:r>
            <a:r>
              <a:rPr lang="en-US" sz="1700" b="0" i="0">
                <a:effectLst/>
                <a:latin typeface="Inter"/>
              </a:rPr>
              <a:t>a set of employees based on recommendations/ past performance.</a:t>
            </a:r>
            <a:endParaRPr lang="en-US" sz="1700">
              <a:latin typeface="Inter"/>
            </a:endParaRPr>
          </a:p>
          <a:p>
            <a:pPr marL="514350" indent="-514350" fontAlgn="base">
              <a:buFont typeface="+mj-lt"/>
              <a:buAutoNum type="arabicPeriod"/>
            </a:pPr>
            <a:r>
              <a:rPr lang="en-US" sz="1700" b="0" i="0">
                <a:effectLst/>
                <a:latin typeface="Inter"/>
              </a:rPr>
              <a:t>Selected employees go through a separate training and evaluation program.</a:t>
            </a:r>
          </a:p>
          <a:p>
            <a:pPr marL="514350" indent="-514350" fontAlgn="base">
              <a:buFont typeface="+mj-lt"/>
              <a:buAutoNum type="arabicPeriod"/>
            </a:pPr>
            <a:r>
              <a:rPr lang="en-US" sz="1700" b="0" i="0">
                <a:effectLst/>
                <a:latin typeface="Inter"/>
              </a:rPr>
              <a:t>At the end of the program, based on various factors such as training performance, KPI completion (only employees with KPIs completed greater than 60% are considered) etc., employee gets promotion.</a:t>
            </a:r>
          </a:p>
          <a:p>
            <a:pPr marL="0" indent="0" fontAlgn="base">
              <a:buNone/>
            </a:pPr>
            <a:r>
              <a:rPr lang="en-US" sz="1700" b="0" i="0">
                <a:effectLst/>
                <a:latin typeface="Inter"/>
              </a:rPr>
              <a:t>For above mentioned process, the final promotions are only announced after the evaluation, and this leads to delay in transition to their new roles. Hence, company needs help in identifying the eligible candidates at a particular checkpoint so that they can expedite the entire promotion cycle.</a:t>
            </a:r>
          </a:p>
          <a:p>
            <a:pPr marL="0" indent="0">
              <a:buNone/>
            </a:pPr>
            <a:endParaRPr lang="en-US" sz="1700"/>
          </a:p>
        </p:txBody>
      </p:sp>
    </p:spTree>
    <p:extLst>
      <p:ext uri="{BB962C8B-B14F-4D97-AF65-F5344CB8AC3E}">
        <p14:creationId xmlns:p14="http://schemas.microsoft.com/office/powerpoint/2010/main" val="1424952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9" name="Straight Connector 18">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5B3CBE9-18EC-4B2C-94EB-7F9C95222DC0}"/>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Data Assessment:</a:t>
            </a:r>
          </a:p>
        </p:txBody>
      </p:sp>
      <p:cxnSp>
        <p:nvCxnSpPr>
          <p:cNvPr id="23" name="Straight Connector 22">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4" name="Content Placeholder 13" descr="Graphical user interface, text, application&#10;&#10;Description automatically generated">
            <a:extLst>
              <a:ext uri="{FF2B5EF4-FFF2-40B4-BE49-F238E27FC236}">
                <a16:creationId xmlns:a16="http://schemas.microsoft.com/office/drawing/2014/main" id="{1F628A9B-51A5-4BD2-A8B3-1C875AF74D5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040" y="3509213"/>
            <a:ext cx="11496821" cy="1834292"/>
          </a:xfrm>
          <a:prstGeom prst="rect">
            <a:avLst/>
          </a:prstGeom>
        </p:spPr>
      </p:pic>
    </p:spTree>
    <p:extLst>
      <p:ext uri="{BB962C8B-B14F-4D97-AF65-F5344CB8AC3E}">
        <p14:creationId xmlns:p14="http://schemas.microsoft.com/office/powerpoint/2010/main" val="3787617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6A9220-DC4E-4D9A-95A5-1A2CC82EB3EE}"/>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Data Types:</a:t>
            </a:r>
          </a:p>
        </p:txBody>
      </p:sp>
      <p:cxnSp>
        <p:nvCxnSpPr>
          <p:cNvPr id="20" name="Straight Connector 19">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13" name="Content Placeholder 12" descr="Text&#10;&#10;Description automatically generated">
            <a:extLst>
              <a:ext uri="{FF2B5EF4-FFF2-40B4-BE49-F238E27FC236}">
                <a16:creationId xmlns:a16="http://schemas.microsoft.com/office/drawing/2014/main" id="{59BBA242-A036-4569-95D4-19DFE19904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53822" y="725604"/>
            <a:ext cx="6553545" cy="5414733"/>
          </a:xfrm>
          <a:prstGeom prst="rect">
            <a:avLst/>
          </a:prstGeom>
        </p:spPr>
      </p:pic>
      <p:sp>
        <p:nvSpPr>
          <p:cNvPr id="15" name="Oval 14">
            <a:extLst>
              <a:ext uri="{FF2B5EF4-FFF2-40B4-BE49-F238E27FC236}">
                <a16:creationId xmlns:a16="http://schemas.microsoft.com/office/drawing/2014/main" id="{C302A63B-98FF-46A4-8665-4F88FCFA3D1D}"/>
              </a:ext>
            </a:extLst>
          </p:cNvPr>
          <p:cNvSpPr/>
          <p:nvPr/>
        </p:nvSpPr>
        <p:spPr>
          <a:xfrm>
            <a:off x="8430594" y="2683239"/>
            <a:ext cx="833327" cy="2848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8740F57E-065F-4B73-988B-DD66CA7DA4E5}"/>
              </a:ext>
            </a:extLst>
          </p:cNvPr>
          <p:cNvSpPr/>
          <p:nvPr/>
        </p:nvSpPr>
        <p:spPr>
          <a:xfrm>
            <a:off x="8430593" y="3804477"/>
            <a:ext cx="833327" cy="2848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14742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5059-5070-46BC-A2E9-9D10306B9B88}"/>
              </a:ext>
            </a:extLst>
          </p:cNvPr>
          <p:cNvSpPr>
            <a:spLocks noGrp="1"/>
          </p:cNvSpPr>
          <p:nvPr>
            <p:ph type="title"/>
          </p:nvPr>
        </p:nvSpPr>
        <p:spPr/>
        <p:txBody>
          <a:bodyPr/>
          <a:lstStyle/>
          <a:p>
            <a:r>
              <a:rPr lang="en-US" dirty="0"/>
              <a:t>Numerical Distributions:</a:t>
            </a:r>
          </a:p>
        </p:txBody>
      </p:sp>
      <p:pic>
        <p:nvPicPr>
          <p:cNvPr id="5" name="Content Placeholder 4" descr="Graphical user interface&#10;&#10;Description automatically generated with medium confidence">
            <a:extLst>
              <a:ext uri="{FF2B5EF4-FFF2-40B4-BE49-F238E27FC236}">
                <a16:creationId xmlns:a16="http://schemas.microsoft.com/office/drawing/2014/main" id="{A61E9AC7-2C73-4B24-9068-3D1065CBAA3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478" y="2559389"/>
            <a:ext cx="11616003" cy="2986972"/>
          </a:xfrm>
        </p:spPr>
      </p:pic>
      <p:sp>
        <p:nvSpPr>
          <p:cNvPr id="6" name="Star: 5 Points 5">
            <a:extLst>
              <a:ext uri="{FF2B5EF4-FFF2-40B4-BE49-F238E27FC236}">
                <a16:creationId xmlns:a16="http://schemas.microsoft.com/office/drawing/2014/main" id="{DBB37567-C7A0-4DB5-BDE6-52AF080F623D}"/>
              </a:ext>
            </a:extLst>
          </p:cNvPr>
          <p:cNvSpPr/>
          <p:nvPr/>
        </p:nvSpPr>
        <p:spPr>
          <a:xfrm>
            <a:off x="2383437" y="2236738"/>
            <a:ext cx="404734" cy="3037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tar: 5 Points 6">
            <a:extLst>
              <a:ext uri="{FF2B5EF4-FFF2-40B4-BE49-F238E27FC236}">
                <a16:creationId xmlns:a16="http://schemas.microsoft.com/office/drawing/2014/main" id="{55051BA1-F76D-479C-AA4D-454197182972}"/>
              </a:ext>
            </a:extLst>
          </p:cNvPr>
          <p:cNvSpPr/>
          <p:nvPr/>
        </p:nvSpPr>
        <p:spPr>
          <a:xfrm>
            <a:off x="3690080" y="2236738"/>
            <a:ext cx="404734" cy="3037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tar: 5 Points 7">
            <a:extLst>
              <a:ext uri="{FF2B5EF4-FFF2-40B4-BE49-F238E27FC236}">
                <a16:creationId xmlns:a16="http://schemas.microsoft.com/office/drawing/2014/main" id="{6264EA6F-84A9-49E7-B096-861619BDF2ED}"/>
              </a:ext>
            </a:extLst>
          </p:cNvPr>
          <p:cNvSpPr/>
          <p:nvPr/>
        </p:nvSpPr>
        <p:spPr>
          <a:xfrm>
            <a:off x="5975479" y="2236376"/>
            <a:ext cx="404734" cy="3037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tar: 5 Points 8">
            <a:extLst>
              <a:ext uri="{FF2B5EF4-FFF2-40B4-BE49-F238E27FC236}">
                <a16:creationId xmlns:a16="http://schemas.microsoft.com/office/drawing/2014/main" id="{E34644F7-8923-4EEA-9651-859DE9268A62}"/>
              </a:ext>
            </a:extLst>
          </p:cNvPr>
          <p:cNvSpPr/>
          <p:nvPr/>
        </p:nvSpPr>
        <p:spPr>
          <a:xfrm>
            <a:off x="9403829" y="2236738"/>
            <a:ext cx="404734" cy="303732"/>
          </a:xfrm>
          <a:prstGeom prst="star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0321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80583-0ECF-4801-804F-167C13A3A8DC}"/>
              </a:ext>
            </a:extLst>
          </p:cNvPr>
          <p:cNvSpPr>
            <a:spLocks noGrp="1"/>
          </p:cNvSpPr>
          <p:nvPr>
            <p:ph type="title"/>
          </p:nvPr>
        </p:nvSpPr>
        <p:spPr>
          <a:xfrm>
            <a:off x="568377" y="2907025"/>
            <a:ext cx="2189813" cy="1043950"/>
          </a:xfrm>
        </p:spPr>
        <p:txBody>
          <a:bodyPr/>
          <a:lstStyle/>
          <a:p>
            <a:r>
              <a:rPr lang="en-US" dirty="0"/>
              <a:t>Outliers:</a:t>
            </a:r>
          </a:p>
        </p:txBody>
      </p:sp>
      <p:pic>
        <p:nvPicPr>
          <p:cNvPr id="5" name="Content Placeholder 4" descr="A picture containing graphical user interface&#10;&#10;Description automatically generated">
            <a:extLst>
              <a:ext uri="{FF2B5EF4-FFF2-40B4-BE49-F238E27FC236}">
                <a16:creationId xmlns:a16="http://schemas.microsoft.com/office/drawing/2014/main" id="{E234A4C3-116F-4E86-902B-A8F4E22290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67855" y="165242"/>
            <a:ext cx="8766883" cy="3263758"/>
          </a:xfrm>
        </p:spPr>
      </p:pic>
      <p:pic>
        <p:nvPicPr>
          <p:cNvPr id="7" name="Picture 6" descr="Chart&#10;&#10;Description automatically generated with medium confidence">
            <a:extLst>
              <a:ext uri="{FF2B5EF4-FFF2-40B4-BE49-F238E27FC236}">
                <a16:creationId xmlns:a16="http://schemas.microsoft.com/office/drawing/2014/main" id="{837DCD5C-BE9B-4125-9011-18917DF3CE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2504" y="3429000"/>
            <a:ext cx="8237584" cy="3049271"/>
          </a:xfrm>
          <a:prstGeom prst="rect">
            <a:avLst/>
          </a:prstGeom>
        </p:spPr>
      </p:pic>
      <p:sp>
        <p:nvSpPr>
          <p:cNvPr id="8" name="Oval 7">
            <a:extLst>
              <a:ext uri="{FF2B5EF4-FFF2-40B4-BE49-F238E27FC236}">
                <a16:creationId xmlns:a16="http://schemas.microsoft.com/office/drawing/2014/main" id="{E05F2534-0460-4255-B037-127438E7D966}"/>
              </a:ext>
            </a:extLst>
          </p:cNvPr>
          <p:cNvSpPr/>
          <p:nvPr/>
        </p:nvSpPr>
        <p:spPr>
          <a:xfrm>
            <a:off x="6595672" y="2113613"/>
            <a:ext cx="5439065" cy="1184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7FB6529-D6F2-4103-A536-194B29F600BD}"/>
              </a:ext>
            </a:extLst>
          </p:cNvPr>
          <p:cNvSpPr/>
          <p:nvPr/>
        </p:nvSpPr>
        <p:spPr>
          <a:xfrm>
            <a:off x="7525062" y="5329650"/>
            <a:ext cx="4666938" cy="118422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6653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F30F-FCCC-4924-8FAB-23A8B4C35D01}"/>
              </a:ext>
            </a:extLst>
          </p:cNvPr>
          <p:cNvSpPr>
            <a:spLocks noGrp="1"/>
          </p:cNvSpPr>
          <p:nvPr>
            <p:ph type="title"/>
          </p:nvPr>
        </p:nvSpPr>
        <p:spPr>
          <a:xfrm>
            <a:off x="305214" y="2766218"/>
            <a:ext cx="2414666" cy="1325563"/>
          </a:xfrm>
        </p:spPr>
        <p:txBody>
          <a:bodyPr/>
          <a:lstStyle/>
          <a:p>
            <a:r>
              <a:rPr lang="en-US"/>
              <a:t>Cleaning:</a:t>
            </a:r>
            <a:endParaRPr lang="en-US" dirty="0"/>
          </a:p>
        </p:txBody>
      </p:sp>
      <p:pic>
        <p:nvPicPr>
          <p:cNvPr id="7" name="Content Placeholder 6" descr="Chart&#10;&#10;Description automatically generated with medium confidence">
            <a:extLst>
              <a:ext uri="{FF2B5EF4-FFF2-40B4-BE49-F238E27FC236}">
                <a16:creationId xmlns:a16="http://schemas.microsoft.com/office/drawing/2014/main" id="{7234DE21-46D5-4C02-B115-D8D95A9821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73633" y="33420"/>
            <a:ext cx="9018367" cy="3395580"/>
          </a:xfrm>
        </p:spPr>
      </p:pic>
      <p:pic>
        <p:nvPicPr>
          <p:cNvPr id="9" name="Picture 8" descr="Chart, bar chart&#10;&#10;Description automatically generated">
            <a:extLst>
              <a:ext uri="{FF2B5EF4-FFF2-40B4-BE49-F238E27FC236}">
                <a16:creationId xmlns:a16="http://schemas.microsoft.com/office/drawing/2014/main" id="{657D16B1-7A83-4C8D-8884-652BCD468F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2826" y="3620126"/>
            <a:ext cx="8863605" cy="3252026"/>
          </a:xfrm>
          <a:prstGeom prst="rect">
            <a:avLst/>
          </a:prstGeom>
        </p:spPr>
      </p:pic>
    </p:spTree>
    <p:extLst>
      <p:ext uri="{BB962C8B-B14F-4D97-AF65-F5344CB8AC3E}">
        <p14:creationId xmlns:p14="http://schemas.microsoft.com/office/powerpoint/2010/main" val="3656670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BBAA41-1B97-4599-8F28-348FFFAA003B}"/>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Wrangling Summary:</a:t>
            </a:r>
          </a:p>
        </p:txBody>
      </p:sp>
      <p:sp>
        <p:nvSpPr>
          <p:cNvPr id="33" name="Rectangle 32">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8B2B7B-641B-4060-BA2D-2D55BD949AAC}"/>
              </a:ext>
            </a:extLst>
          </p:cNvPr>
          <p:cNvSpPr>
            <a:spLocks noGrp="1"/>
          </p:cNvSpPr>
          <p:nvPr>
            <p:ph idx="1"/>
          </p:nvPr>
        </p:nvSpPr>
        <p:spPr>
          <a:xfrm>
            <a:off x="1155548" y="2217343"/>
            <a:ext cx="9880893" cy="3959619"/>
          </a:xfrm>
        </p:spPr>
        <p:txBody>
          <a:bodyPr>
            <a:normAutofit/>
          </a:bodyPr>
          <a:lstStyle/>
          <a:p>
            <a:pPr marL="0" marR="0" indent="0">
              <a:spcBef>
                <a:spcPts val="0"/>
              </a:spcBef>
              <a:spcAft>
                <a:spcPts val="800"/>
              </a:spcAft>
              <a:buNone/>
            </a:pPr>
            <a:r>
              <a:rPr lang="en-US" sz="2400">
                <a:latin typeface="Calibri" panose="020F0502020204030204" pitchFamily="34" charset="0"/>
                <a:ea typeface="Calibri" panose="020F0502020204030204" pitchFamily="34" charset="0"/>
                <a:cs typeface="Arial" panose="020B0604020202020204" pitchFamily="34" charset="0"/>
              </a:rPr>
              <a:t>A</a:t>
            </a:r>
            <a:r>
              <a:rPr lang="en-US" sz="2400">
                <a:effectLst/>
                <a:latin typeface="Calibri" panose="020F0502020204030204" pitchFamily="34" charset="0"/>
                <a:ea typeface="Calibri" panose="020F0502020204030204" pitchFamily="34" charset="0"/>
                <a:cs typeface="Arial" panose="020B0604020202020204" pitchFamily="34" charset="0"/>
              </a:rPr>
              <a:t>fter downloading the dataset and assessing it visually and programmatically we found some quality issues like:</a:t>
            </a:r>
          </a:p>
          <a:p>
            <a:pPr marL="342900" marR="0" lvl="0" indent="-342900">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Outliers in [‘trainings’, ‘experience’] columns.</a:t>
            </a:r>
          </a:p>
          <a:p>
            <a:pPr marL="342900" marR="0" lvl="0" indent="-342900">
              <a:spcBef>
                <a:spcPts val="0"/>
              </a:spcBef>
              <a:spcAft>
                <a:spcPts val="0"/>
              </a:spcAft>
              <a:buFont typeface="Symbol" panose="05050102010706020507" pitchFamily="18"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Nulls in [‘education’, ‘prev_year_rating’] columns.</a:t>
            </a:r>
          </a:p>
          <a:p>
            <a:pPr marL="0" marR="0" lvl="0" indent="0">
              <a:spcBef>
                <a:spcPts val="0"/>
              </a:spcBef>
              <a:spcAft>
                <a:spcPts val="0"/>
              </a:spcAft>
              <a:buNone/>
            </a:pPr>
            <a:endParaRPr lang="en-US" sz="240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800"/>
              </a:spcAft>
              <a:buNone/>
            </a:pPr>
            <a:r>
              <a:rPr lang="en-US" sz="2400">
                <a:effectLst/>
                <a:latin typeface="Calibri" panose="020F0502020204030204" pitchFamily="34" charset="0"/>
                <a:ea typeface="Calibri" panose="020F0502020204030204" pitchFamily="34" charset="0"/>
                <a:cs typeface="Arial" panose="020B0604020202020204" pitchFamily="34" charset="0"/>
              </a:rPr>
              <a:t>Cleaning process:</a:t>
            </a:r>
          </a:p>
          <a:p>
            <a:pPr marL="342900" marR="0" lvl="0" indent="-342900">
              <a:spcBef>
                <a:spcPts val="0"/>
              </a:spcBef>
              <a:spcAft>
                <a:spcPts val="0"/>
              </a:spcAft>
              <a:buFont typeface="Wingdings" panose="05000000000000000000" pitchFamily="2"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Detected and removed outliers above 0.99 quantile from trainings column.</a:t>
            </a:r>
          </a:p>
          <a:p>
            <a:pPr marL="342900" marR="0" lvl="0" indent="-342900">
              <a:spcBef>
                <a:spcPts val="0"/>
              </a:spcBef>
              <a:spcAft>
                <a:spcPts val="0"/>
              </a:spcAft>
              <a:buFont typeface="Wingdings" panose="05000000000000000000" pitchFamily="2"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Detected and removed outliers above 0.97 quantile from experience column.</a:t>
            </a:r>
          </a:p>
          <a:p>
            <a:pPr marL="342900" marR="0" lvl="0" indent="-342900">
              <a:spcBef>
                <a:spcPts val="0"/>
              </a:spcBef>
              <a:spcAft>
                <a:spcPts val="0"/>
              </a:spcAft>
              <a:buFont typeface="Wingdings" panose="05000000000000000000" pitchFamily="2" charset="2"/>
              <a:buChar char=""/>
            </a:pPr>
            <a:r>
              <a:rPr lang="en-US" sz="2400">
                <a:effectLst/>
                <a:latin typeface="Calibri" panose="020F0502020204030204" pitchFamily="34" charset="0"/>
                <a:ea typeface="Calibri" panose="020F0502020204030204" pitchFamily="34" charset="0"/>
                <a:cs typeface="Arial" panose="020B0604020202020204" pitchFamily="34" charset="0"/>
              </a:rPr>
              <a:t>Replaced null values from education column with the most frequent value and those from prev_year_rating with median value.</a:t>
            </a:r>
          </a:p>
        </p:txBody>
      </p:sp>
    </p:spTree>
    <p:extLst>
      <p:ext uri="{BB962C8B-B14F-4D97-AF65-F5344CB8AC3E}">
        <p14:creationId xmlns:p14="http://schemas.microsoft.com/office/powerpoint/2010/main" val="618349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12192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F4C044-5638-40D4-9AC8-638E6B71902E}"/>
              </a:ext>
            </a:extLst>
          </p:cNvPr>
          <p:cNvSpPr>
            <a:spLocks noGrp="1"/>
          </p:cNvSpPr>
          <p:nvPr>
            <p:ph type="title"/>
          </p:nvPr>
        </p:nvSpPr>
        <p:spPr>
          <a:xfrm>
            <a:off x="526073" y="489439"/>
            <a:ext cx="11139854" cy="930447"/>
          </a:xfrm>
        </p:spPr>
        <p:txBody>
          <a:bodyPr vert="horz" lIns="91440" tIns="45720" rIns="91440" bIns="45720" rtlCol="0" anchor="b">
            <a:normAutofit/>
          </a:bodyPr>
          <a:lstStyle/>
          <a:p>
            <a:pPr algn="ctr"/>
            <a:r>
              <a:rPr lang="en-US" sz="5400" kern="1200">
                <a:solidFill>
                  <a:schemeClr val="bg1"/>
                </a:solidFill>
                <a:latin typeface="+mj-lt"/>
                <a:ea typeface="+mj-ea"/>
                <a:cs typeface="+mj-cs"/>
              </a:rPr>
              <a:t>Deeper Look on Promoted Employees:</a:t>
            </a:r>
          </a:p>
        </p:txBody>
      </p:sp>
      <p:cxnSp>
        <p:nvCxnSpPr>
          <p:cNvPr id="14" name="Straight Connector 13">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4400" y="1479733"/>
            <a:ext cx="27432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12188824"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5" name="Content Placeholder 4" descr="Chart&#10;&#10;Description automatically generated">
            <a:extLst>
              <a:ext uri="{FF2B5EF4-FFF2-40B4-BE49-F238E27FC236}">
                <a16:creationId xmlns:a16="http://schemas.microsoft.com/office/drawing/2014/main" id="{DF9AC5CA-2637-4D3B-B13A-3641503F5B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8879" y="2298654"/>
            <a:ext cx="8289560" cy="4590863"/>
          </a:xfrm>
          <a:prstGeom prst="rect">
            <a:avLst/>
          </a:prstGeom>
        </p:spPr>
      </p:pic>
    </p:spTree>
    <p:extLst>
      <p:ext uri="{BB962C8B-B14F-4D97-AF65-F5344CB8AC3E}">
        <p14:creationId xmlns:p14="http://schemas.microsoft.com/office/powerpoint/2010/main" val="1051477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672528-5325-4510-A5F0-130F09293EAD}"/>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Demographics:</a:t>
            </a:r>
          </a:p>
        </p:txBody>
      </p:sp>
      <p:pic>
        <p:nvPicPr>
          <p:cNvPr id="5" name="Content Placeholder 4" descr="Chart, bar chart, histogram&#10;&#10;Description automatically generated">
            <a:extLst>
              <a:ext uri="{FF2B5EF4-FFF2-40B4-BE49-F238E27FC236}">
                <a16:creationId xmlns:a16="http://schemas.microsoft.com/office/drawing/2014/main" id="{7F232535-204F-4BA5-BDD3-802B4EA87B5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4334"/>
          <a:stretch/>
        </p:blipFill>
        <p:spPr>
          <a:xfrm>
            <a:off x="556532" y="1573967"/>
            <a:ext cx="11259193" cy="5090113"/>
          </a:xfrm>
          <a:prstGeom prst="rect">
            <a:avLst/>
          </a:prstGeom>
        </p:spPr>
      </p:pic>
    </p:spTree>
    <p:extLst>
      <p:ext uri="{BB962C8B-B14F-4D97-AF65-F5344CB8AC3E}">
        <p14:creationId xmlns:p14="http://schemas.microsoft.com/office/powerpoint/2010/main" val="1139648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02A221B-BCCD-4C23-9E50-06859B59BCC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Promoted Employees’ Performance:</a:t>
            </a:r>
          </a:p>
        </p:txBody>
      </p:sp>
      <p:pic>
        <p:nvPicPr>
          <p:cNvPr id="8" name="Content Placeholder 4" descr="Chart, histogram&#10;&#10;Description automatically generated">
            <a:extLst>
              <a:ext uri="{FF2B5EF4-FFF2-40B4-BE49-F238E27FC236}">
                <a16:creationId xmlns:a16="http://schemas.microsoft.com/office/drawing/2014/main" id="{1CCA190C-7DE1-439C-B0E0-A7AAD59A254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806" t="4207" r="555" b="1320"/>
          <a:stretch/>
        </p:blipFill>
        <p:spPr>
          <a:xfrm>
            <a:off x="771043" y="1396588"/>
            <a:ext cx="10649913" cy="5202059"/>
          </a:xfrm>
          <a:prstGeom prst="rect">
            <a:avLst/>
          </a:prstGeom>
        </p:spPr>
      </p:pic>
    </p:spTree>
    <p:extLst>
      <p:ext uri="{BB962C8B-B14F-4D97-AF65-F5344CB8AC3E}">
        <p14:creationId xmlns:p14="http://schemas.microsoft.com/office/powerpoint/2010/main" val="2081245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306AD1-48AD-4DEC-93BE-E4AE8DD8C65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Experiences:</a:t>
            </a:r>
          </a:p>
        </p:txBody>
      </p:sp>
      <p:pic>
        <p:nvPicPr>
          <p:cNvPr id="5" name="Content Placeholder 4" descr="Chart, bar chart&#10;&#10;Description automatically generated">
            <a:extLst>
              <a:ext uri="{FF2B5EF4-FFF2-40B4-BE49-F238E27FC236}">
                <a16:creationId xmlns:a16="http://schemas.microsoft.com/office/drawing/2014/main" id="{69235BCB-68D5-470B-92B8-20570A27A1A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t="3423"/>
          <a:stretch/>
        </p:blipFill>
        <p:spPr>
          <a:xfrm>
            <a:off x="764498" y="1388303"/>
            <a:ext cx="10118359" cy="5447869"/>
          </a:xfrm>
          <a:prstGeom prst="rect">
            <a:avLst/>
          </a:prstGeom>
        </p:spPr>
      </p:pic>
    </p:spTree>
    <p:extLst>
      <p:ext uri="{BB962C8B-B14F-4D97-AF65-F5344CB8AC3E}">
        <p14:creationId xmlns:p14="http://schemas.microsoft.com/office/powerpoint/2010/main" val="33571979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385</Words>
  <Application>Microsoft Office PowerPoint</Application>
  <PresentationFormat>Widescreen</PresentationFormat>
  <Paragraphs>28</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Inter</vt:lpstr>
      <vt:lpstr>Symbol</vt:lpstr>
      <vt:lpstr>Wingdings</vt:lpstr>
      <vt:lpstr>Office Theme</vt:lpstr>
      <vt:lpstr>HR Data Analysis and Prediction</vt:lpstr>
      <vt:lpstr>Introduction:</vt:lpstr>
      <vt:lpstr>Business Problem:</vt:lpstr>
      <vt:lpstr>Data Assessment:</vt:lpstr>
      <vt:lpstr>Data Types:</vt:lpstr>
      <vt:lpstr>Numerical Distributions:</vt:lpstr>
      <vt:lpstr>Outliers:</vt:lpstr>
      <vt:lpstr>Cleaning:</vt:lpstr>
      <vt:lpstr>Wrangling Summary:</vt:lpstr>
      <vt:lpstr>Deeper Look on Promoted Employees:</vt:lpstr>
      <vt:lpstr>Demographics:</vt:lpstr>
      <vt:lpstr>Promoted Employees’ Performance:</vt:lpstr>
      <vt:lpstr>Experiences: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Data Analysis and Prediction</dc:title>
  <dc:creator>A'isha Ahmad</dc:creator>
  <cp:lastModifiedBy>A'isha Ahmad</cp:lastModifiedBy>
  <cp:revision>2</cp:revision>
  <dcterms:created xsi:type="dcterms:W3CDTF">2021-08-12T08:20:01Z</dcterms:created>
  <dcterms:modified xsi:type="dcterms:W3CDTF">2021-12-01T17:07:08Z</dcterms:modified>
</cp:coreProperties>
</file>